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Playfair Display" charset="1" panose="00000000000000000000"/>
      <p:regular r:id="rId29"/>
    </p:embeddedFont>
    <p:embeddedFont>
      <p:font typeface="Playfair Display Bold" charset="1" panose="00000000000000000000"/>
      <p:regular r:id="rId30"/>
    </p:embeddedFont>
    <p:embeddedFont>
      <p:font typeface="Open Sans Bold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77789" y="2576208"/>
            <a:ext cx="14981511" cy="243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40"/>
              </a:lnSpc>
            </a:pPr>
            <a:r>
              <a:rPr lang="en-US" sz="60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AUDIO-AUGMENTED PROMPTING FOR HUMOR EXPLANATION IN OPEN-SOURCE LANGUAGE MODELS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18761" y="7436501"/>
            <a:ext cx="7740539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40"/>
              </a:lnSpc>
            </a:pPr>
            <a:r>
              <a:rPr lang="en-US" sz="450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Dimitar Dimov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15651" y="8665635"/>
            <a:ext cx="3443649" cy="39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59"/>
              </a:lnSpc>
            </a:pPr>
            <a:r>
              <a:rPr lang="en-US" sz="3978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25/04/2026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2072269" y="-3978021"/>
            <a:ext cx="3930958" cy="19691461"/>
          </a:xfrm>
          <a:custGeom>
            <a:avLst/>
            <a:gdLst/>
            <a:ahLst/>
            <a:cxnLst/>
            <a:rect r="r" b="b" t="t" l="l"/>
            <a:pathLst>
              <a:path h="19691461" w="3930958">
                <a:moveTo>
                  <a:pt x="0" y="0"/>
                </a:moveTo>
                <a:lnTo>
                  <a:pt x="3930958" y="0"/>
                </a:lnTo>
                <a:lnTo>
                  <a:pt x="3930958" y="19691461"/>
                </a:lnTo>
                <a:lnTo>
                  <a:pt x="0" y="19691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5400000">
            <a:off x="-3882314" y="4665078"/>
            <a:ext cx="10525173" cy="956834"/>
            <a:chOff x="0" y="0"/>
            <a:chExt cx="14033564" cy="12757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43" t="0" r="-443" b="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43087" y="746246"/>
            <a:ext cx="6596539" cy="117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3371183"/>
            <a:ext cx="15321353" cy="499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Large language models have shown strong performance on many natural language understanding tasks.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However, humor understanding remains challenging.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Humor often depends on ambiguity, context, wordplay, and pronunciation.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 alone may not always provide enough information to explain the joke correctly</a:t>
            </a:r>
          </a:p>
          <a:p>
            <a:pPr algn="l" marL="800101" indent="-266700" lvl="2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2650" y="762000"/>
            <a:ext cx="683895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MOTIVATION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3371183"/>
            <a:ext cx="15321353" cy="499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Many jokes, especially puns, rely on how words sound.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 such cases, written text may hide important pronunciation-based cues.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Audio can provide additional information about the spoken form of the joke.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motivates the use of multimodal prompting for humor explanation.</a:t>
            </a:r>
          </a:p>
          <a:p>
            <a:pPr algn="l" marL="800101" indent="-266700" lvl="2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2650" y="762000"/>
            <a:ext cx="935355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QUESTION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3371183"/>
            <a:ext cx="15321353" cy="561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Does adding audio improve the quality of humor explanations generated by open-source language models?</a:t>
            </a:r>
          </a:p>
          <a:p>
            <a:pPr algn="l" marL="800101" indent="-266700" lvl="2">
              <a:lnSpc>
                <a:spcPts val="4900"/>
              </a:lnSpc>
            </a:pP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paper compares explanations generated from: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Text-only input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Audio-only input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Text-plus-audio input</a:t>
            </a:r>
          </a:p>
          <a:p>
            <a:pPr algn="l" marL="1429809" indent="-357452" lvl="3">
              <a:lnSpc>
                <a:spcPts val="4900"/>
              </a:lnSpc>
            </a:pPr>
          </a:p>
          <a:p>
            <a:pPr algn="l" marL="1429809" indent="-357452" lvl="3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2650" y="762000"/>
            <a:ext cx="861441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HUMOR TYPE: PUNS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3371183"/>
            <a:ext cx="15321353" cy="499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Puns are a form of humor based on ambiguity.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They often involve two possible interpretations of the same or similar-sounding words.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Homographic puns use the same written form.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Heterographic puns use different written forms but similar pronunciation.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Audio is expected to be especially useful for heterographic puns.</a:t>
            </a:r>
          </a:p>
          <a:p>
            <a:pPr algn="l" marL="800101" indent="-266700" lvl="2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2650" y="762000"/>
            <a:ext cx="15429708" cy="117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PROPOSED 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3371183"/>
            <a:ext cx="15321353" cy="437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paper uses a controlled multimodal prompting setup.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same joke is provided to the model under different input conditions.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model generates an explanation of the humor mechanism.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explanations are then normalized and evaluated using a separate judging model.</a:t>
            </a:r>
          </a:p>
          <a:p>
            <a:pPr algn="l" marL="800101" indent="-266700" lvl="2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7905521" y="4597041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0518" y="-382829"/>
            <a:ext cx="12749632" cy="10908001"/>
          </a:xfrm>
          <a:custGeom>
            <a:avLst/>
            <a:gdLst/>
            <a:ahLst/>
            <a:cxnLst/>
            <a:rect r="r" b="b" t="t" l="l"/>
            <a:pathLst>
              <a:path h="10908001" w="12749632">
                <a:moveTo>
                  <a:pt x="0" y="0"/>
                </a:moveTo>
                <a:lnTo>
                  <a:pt x="12749632" y="0"/>
                </a:lnTo>
                <a:lnTo>
                  <a:pt x="12749632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592238" y="2819895"/>
            <a:ext cx="7085133" cy="6055433"/>
            <a:chOff x="0" y="0"/>
            <a:chExt cx="9446844" cy="80739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46895" cy="8073898"/>
            </a:xfrm>
            <a:custGeom>
              <a:avLst/>
              <a:gdLst/>
              <a:ahLst/>
              <a:cxnLst/>
              <a:rect r="r" b="b" t="t" l="l"/>
              <a:pathLst>
                <a:path h="8073898" w="9446895">
                  <a:moveTo>
                    <a:pt x="0" y="0"/>
                  </a:moveTo>
                  <a:lnTo>
                    <a:pt x="9446895" y="0"/>
                  </a:lnTo>
                  <a:lnTo>
                    <a:pt x="9446895" y="8073898"/>
                  </a:lnTo>
                  <a:lnTo>
                    <a:pt x="0" y="8073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762000"/>
            <a:ext cx="11024616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EXPERIMENTAL PIPELINE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526" y="2762745"/>
            <a:ext cx="7617123" cy="632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9955" indent="-226652" lvl="2">
              <a:lnSpc>
                <a:spcPts val="4164"/>
              </a:lnSpc>
              <a:buFont typeface="Arial"/>
              <a:buChar char="⚬"/>
            </a:pPr>
            <a:r>
              <a:rPr lang="en-US" b="true" sz="2974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experimental pipeline consists of four steps:</a:t>
            </a:r>
          </a:p>
          <a:p>
            <a:pPr algn="l" marL="1215193" indent="-303798" lvl="3">
              <a:lnSpc>
                <a:spcPts val="4164"/>
              </a:lnSpc>
              <a:buFont typeface="Arial"/>
              <a:buChar char="￭"/>
            </a:pPr>
            <a:r>
              <a:rPr lang="en-US" b="true" sz="2974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Generate explanations from text-only input</a:t>
            </a:r>
          </a:p>
          <a:p>
            <a:pPr algn="l" marL="1215193" indent="-303798" lvl="3">
              <a:lnSpc>
                <a:spcPts val="4164"/>
              </a:lnSpc>
              <a:buFont typeface="Arial"/>
              <a:buChar char="￭"/>
            </a:pPr>
            <a:r>
              <a:rPr lang="en-US" b="true" sz="2974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Generate explanations from audio or text-plus-audio input</a:t>
            </a:r>
          </a:p>
          <a:p>
            <a:pPr algn="l" marL="1215193" indent="-303798" lvl="3">
              <a:lnSpc>
                <a:spcPts val="4164"/>
              </a:lnSpc>
              <a:buFont typeface="Arial"/>
              <a:buChar char="￭"/>
            </a:pPr>
            <a:r>
              <a:rPr lang="en-US" b="true" sz="2974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Normalize outputs into strict JSON format</a:t>
            </a:r>
          </a:p>
          <a:p>
            <a:pPr algn="l" marL="1215193" indent="-303798" lvl="3">
              <a:lnSpc>
                <a:spcPts val="4164"/>
              </a:lnSpc>
              <a:buFont typeface="Arial"/>
              <a:buChar char="￭"/>
            </a:pPr>
            <a:r>
              <a:rPr lang="en-US" b="true" sz="2974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Evaluate explanation quality using a separate judge model</a:t>
            </a:r>
          </a:p>
          <a:p>
            <a:pPr algn="l" marL="1215193" indent="-303798" lvl="3">
              <a:lnSpc>
                <a:spcPts val="4164"/>
              </a:lnSpc>
            </a:pPr>
          </a:p>
          <a:p>
            <a:pPr algn="l" marL="1215193" indent="-303798" lvl="3">
              <a:lnSpc>
                <a:spcPts val="416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2650" y="762000"/>
            <a:ext cx="861441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AUDIO GENERATION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3371183"/>
            <a:ext cx="15321353" cy="375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Audio versions of the jokes are generated using Piper TTS.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audio is synthesized directly from the original joke text.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manual emphasis, timing, or prosody annotations are added.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audio is used only as an auxiliary signal for pronunciation-related ambiguity.</a:t>
            </a:r>
          </a:p>
          <a:p>
            <a:pPr algn="l" marL="800101" indent="-266700" lvl="2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2650" y="762000"/>
            <a:ext cx="821055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PROMPTING SETUP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3371183"/>
            <a:ext cx="15321353" cy="437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All experiments are performed in a zero-shot setting.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prompt explains the difference between puns and non-puns.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model is asked to decide whether the input is a pun and explain the linguistic mechanism.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Few-shot examples and explicit chain-of-thought prompting are not used.</a:t>
            </a:r>
          </a:p>
          <a:p>
            <a:pPr algn="l" marL="800101" indent="-266700" lvl="2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2650" y="762000"/>
            <a:ext cx="440055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DATASETS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3371183"/>
            <a:ext cx="15321353" cy="505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evaluation uses three humor datasets:</a:t>
            </a:r>
          </a:p>
          <a:p>
            <a:pPr algn="l" marL="1245236" indent="-311309" lvl="3">
              <a:lnSpc>
                <a:spcPts val="4900"/>
              </a:lnSpc>
              <a:buAutoNum type="arabicPeriod" startAt="1"/>
            </a:pPr>
            <a:r>
              <a:rPr lang="en-US" b="true" sz="34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SemEval 2017 Task 7 contains homographic puns, heterographic puns, and non-puns.</a:t>
            </a:r>
          </a:p>
          <a:p>
            <a:pPr algn="l" marL="1245236" indent="-311309" lvl="3">
              <a:lnSpc>
                <a:spcPts val="4900"/>
              </a:lnSpc>
              <a:buAutoNum type="arabicPeriod" startAt="1"/>
            </a:pPr>
            <a:r>
              <a:rPr lang="en-US" b="true" sz="34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Context-Situated Puns contains sentence-level pun examples with annotations.</a:t>
            </a:r>
          </a:p>
          <a:p>
            <a:pPr algn="l" marL="1245236" indent="-311309" lvl="3">
              <a:lnSpc>
                <a:spcPts val="4900"/>
              </a:lnSpc>
              <a:buAutoNum type="arabicPeriod" startAt="1"/>
            </a:pPr>
            <a:r>
              <a:rPr lang="en-US" b="true" sz="34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ExplainTheJoke contains broader humor examples beyond pun-based humor.</a:t>
            </a:r>
          </a:p>
          <a:p>
            <a:pPr algn="l" marL="1245236" indent="-311309" lvl="3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2650" y="762000"/>
            <a:ext cx="386715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3371183"/>
            <a:ext cx="15321353" cy="375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Qwen2-Audio is used for explanation generation.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Qwen3-Omni is used for extended SemEval experiments.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Microsoft Phi is used for JSON normalization.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Mistral 7B Instruct is used as an independent judging model.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All models are locally deployable open-source models.</a:t>
            </a:r>
          </a:p>
          <a:p>
            <a:pPr algn="l" marL="800101" indent="-266700" lvl="2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2650" y="762000"/>
            <a:ext cx="1445895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EVALUATION METHOD- SEMEVAL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3371183"/>
            <a:ext cx="15321353" cy="499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main evaluation is comparison-based.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 each joke, the judge model compares explanations from different input conditions.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judge selects the explanation that is more correct, clear, and accurate.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tie is allowed when both explanations are similar in quality.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audio is provided to the judging model.</a:t>
            </a:r>
          </a:p>
          <a:p>
            <a:pPr algn="l" marL="800101" indent="-266700" lvl="2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2650" y="2567754"/>
            <a:ext cx="15321353" cy="369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Audio helped most in pronunciation-based puns.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 SemEval, Text + Audio performed better especially for heterographic puns.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suggests that audio is useful when the joke depends on sound similarity.</a:t>
            </a:r>
          </a:p>
          <a:p>
            <a:pPr algn="l" marL="800101" indent="-266700" lvl="2">
              <a:lnSpc>
                <a:spcPts val="49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3921696" y="6043384"/>
            <a:ext cx="10948721" cy="1548803"/>
            <a:chOff x="0" y="0"/>
            <a:chExt cx="14598294" cy="20650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98269" cy="2065108"/>
            </a:xfrm>
            <a:custGeom>
              <a:avLst/>
              <a:gdLst/>
              <a:ahLst/>
              <a:cxnLst/>
              <a:rect r="r" b="b" t="t" l="l"/>
              <a:pathLst>
                <a:path h="2065108" w="14598269">
                  <a:moveTo>
                    <a:pt x="0" y="0"/>
                  </a:moveTo>
                  <a:lnTo>
                    <a:pt x="14598269" y="0"/>
                  </a:lnTo>
                  <a:lnTo>
                    <a:pt x="14598269" y="2065108"/>
                  </a:lnTo>
                  <a:lnTo>
                    <a:pt x="0" y="2065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594" r="0" b="-559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52650" y="762000"/>
            <a:ext cx="1026795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RESULT: SEMEVAL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56997" y="8470189"/>
            <a:ext cx="1532135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Audio helps most when the pun depends on sound similarity.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02593" y="2337454"/>
            <a:ext cx="15256707" cy="505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Qwen3-Omni was evaluated with: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Text-only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Audio-only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 + Audio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findings: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Audio-only was weaker than text-only.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 + Audio was better than audio alone.</a:t>
            </a:r>
          </a:p>
          <a:p>
            <a:pPr algn="l" marL="1429809" indent="-357452" lvl="3">
              <a:lnSpc>
                <a:spcPts val="49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4251446" y="6988347"/>
            <a:ext cx="10247776" cy="2592324"/>
            <a:chOff x="0" y="0"/>
            <a:chExt cx="13663701" cy="3456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63676" cy="3456432"/>
            </a:xfrm>
            <a:custGeom>
              <a:avLst/>
              <a:gdLst/>
              <a:ahLst/>
              <a:cxnLst/>
              <a:rect r="r" b="b" t="t" l="l"/>
              <a:pathLst>
                <a:path h="3456432" w="13663676">
                  <a:moveTo>
                    <a:pt x="0" y="0"/>
                  </a:moveTo>
                  <a:lnTo>
                    <a:pt x="13663676" y="0"/>
                  </a:lnTo>
                  <a:lnTo>
                    <a:pt x="13663676" y="3456432"/>
                  </a:lnTo>
                  <a:lnTo>
                    <a:pt x="0" y="3456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52650" y="762000"/>
            <a:ext cx="1285875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EXTENDED SEMEVAL RESULTS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02593" y="2337454"/>
            <a:ext cx="15256707" cy="369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g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enerated outputs were also evaluated against th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original SemEval gold labels.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 + Audio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achieved the best F1 scores.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Audio-only had high recall, but weaker overall balance.</a:t>
            </a:r>
          </a:p>
          <a:p>
            <a:pPr algn="l" marL="755650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Text-only remained competitive, especially for homographic puns.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883213" y="6682247"/>
            <a:ext cx="12521574" cy="2576053"/>
          </a:xfrm>
          <a:custGeom>
            <a:avLst/>
            <a:gdLst/>
            <a:ahLst/>
            <a:cxnLst/>
            <a:rect r="r" b="b" t="t" l="l"/>
            <a:pathLst>
              <a:path h="2576053" w="12521574">
                <a:moveTo>
                  <a:pt x="0" y="0"/>
                </a:moveTo>
                <a:lnTo>
                  <a:pt x="12521574" y="0"/>
                </a:lnTo>
                <a:lnTo>
                  <a:pt x="12521574" y="2576053"/>
                </a:lnTo>
                <a:lnTo>
                  <a:pt x="0" y="25760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52650" y="762000"/>
            <a:ext cx="14983460" cy="117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SEMEVAL CLASSIFICATION RESULTS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02593" y="3235405"/>
            <a:ext cx="15256707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Joke: “A chick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 farmer’s favorite car is a coupe.”</a:t>
            </a:r>
          </a:p>
          <a:p>
            <a:pPr algn="l" marL="800100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Text-only explanation: Incorrectly interprets the wordplay as coupe → couple</a:t>
            </a:r>
          </a:p>
          <a:p>
            <a:pPr algn="l" marL="800100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 + audio 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explanation: C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orrectly identifies the intended sound-based link: coupe → coop.</a:t>
            </a:r>
          </a:p>
          <a:p>
            <a:pPr algn="l" marL="800100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Takeaway: Audio helped the model detect the pronunciation-based pun.</a:t>
            </a:r>
          </a:p>
          <a:p>
            <a:pPr algn="l" marL="1429809" indent="-357452" lvl="3">
              <a:lnSpc>
                <a:spcPts val="49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762000"/>
            <a:ext cx="10026809" cy="117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EXAMPLE: AUDIO HELPS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02593" y="3361433"/>
            <a:ext cx="15587531" cy="369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Joke: “I had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some back trouble, but it’s all behind me now.”</a:t>
            </a:r>
          </a:p>
          <a:p>
            <a:pPr algn="l" marL="800100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Text-only: Correctly explains the double meaning of “behind me.” </a:t>
            </a:r>
          </a:p>
          <a:p>
            <a:pPr algn="l" marL="800100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 + Audio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Ad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ds less accurate reasoning about the word “back. “</a:t>
            </a:r>
          </a:p>
          <a:p>
            <a:pPr algn="l" marL="800100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Takeaway: Audio may not help when the humor depends more on meaning than pronunciation.</a:t>
            </a:r>
          </a:p>
          <a:p>
            <a:pPr algn="l" marL="1429809" indent="-357452" lvl="3">
              <a:lnSpc>
                <a:spcPts val="49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762000"/>
            <a:ext cx="14077473" cy="117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EXAMPLE: AUDIO DOES NOT HELP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02593" y="3361433"/>
            <a:ext cx="15256707" cy="616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xplanations were scored indep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endently.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judge gave each explanation a score from 1 to 5 based on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correctnes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clarity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humor mechanism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avoiding hallucinations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Then: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higher score = preferred explanation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equal score = tie</a:t>
            </a:r>
          </a:p>
          <a:p>
            <a:pPr algn="l" marL="1429809" indent="-357452" lvl="3">
              <a:lnSpc>
                <a:spcPts val="49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762000"/>
            <a:ext cx="15428436" cy="117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EVALUATION METHOD - CSP AND ETJ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202665" y="3339984"/>
            <a:ext cx="7882671" cy="3845204"/>
            <a:chOff x="0" y="0"/>
            <a:chExt cx="10510228" cy="51269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10266" cy="5126990"/>
            </a:xfrm>
            <a:custGeom>
              <a:avLst/>
              <a:gdLst/>
              <a:ahLst/>
              <a:cxnLst/>
              <a:rect r="r" b="b" t="t" l="l"/>
              <a:pathLst>
                <a:path h="5126990" w="10510266">
                  <a:moveTo>
                    <a:pt x="0" y="0"/>
                  </a:moveTo>
                  <a:lnTo>
                    <a:pt x="10510266" y="0"/>
                  </a:lnTo>
                  <a:lnTo>
                    <a:pt x="10510266" y="5126990"/>
                  </a:lnTo>
                  <a:lnTo>
                    <a:pt x="0" y="5126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228088" y="2630768"/>
            <a:ext cx="15321353" cy="66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Most examples resulted in equal scores.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2650" y="762000"/>
            <a:ext cx="1156335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CONTEXT-SITUATED PUNS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28088" y="7166139"/>
            <a:ext cx="15321353" cy="307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Paired t-test</a:t>
            </a:r>
          </a:p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t(298) = 1.62, p = 0.106</a:t>
            </a:r>
          </a:p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high tie rate and p = 0.106 show that audio did not significantly improve explanations.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325389" y="4501020"/>
            <a:ext cx="7637231" cy="2042512"/>
            <a:chOff x="0" y="0"/>
            <a:chExt cx="10182974" cy="27233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82987" cy="2723388"/>
            </a:xfrm>
            <a:custGeom>
              <a:avLst/>
              <a:gdLst/>
              <a:ahLst/>
              <a:cxnLst/>
              <a:rect r="r" b="b" t="t" l="l"/>
              <a:pathLst>
                <a:path h="2723388" w="10182987">
                  <a:moveTo>
                    <a:pt x="0" y="0"/>
                  </a:moveTo>
                  <a:lnTo>
                    <a:pt x="10182987" y="0"/>
                  </a:lnTo>
                  <a:lnTo>
                    <a:pt x="10182987" y="2723388"/>
                  </a:lnTo>
                  <a:lnTo>
                    <a:pt x="0" y="2723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52650" y="3371183"/>
            <a:ext cx="15321353" cy="66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 broader humor, the difference was small.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2650" y="762000"/>
            <a:ext cx="1552575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EXPLAIN THE JOKE RESULTS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56997" y="6594475"/>
            <a:ext cx="15321353" cy="369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Paired t-test</a:t>
            </a:r>
          </a:p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t(376) = 0.94, p = 0.348</a:t>
            </a:r>
          </a:p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 general humor, audio provides little benefit because many jokes depend on context, not pronunciation.</a:t>
            </a:r>
          </a:p>
          <a:p>
            <a:pPr algn="ctr" marL="800101" indent="-266700" lvl="2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52650" y="3894241"/>
            <a:ext cx="15321353" cy="431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TTS a</a:t>
            </a: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udio may not reflect natural human delivery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Prosody and emphasis were not manually controlled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Local open-source models may produce unstable outputs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Judge-model evaluation may not fully match human judgment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Audio is less useful for humor based on context or world knowledge</a:t>
            </a:r>
          </a:p>
          <a:p>
            <a:pPr algn="l" marL="800101" indent="-266700" lvl="2">
              <a:lnSpc>
                <a:spcPts val="49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762000"/>
            <a:ext cx="600075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LIMITATIONS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712303" y="4784169"/>
            <a:ext cx="10525173" cy="956834"/>
            <a:chOff x="0" y="0"/>
            <a:chExt cx="14033564" cy="1275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3500" cy="1275842"/>
            </a:xfrm>
            <a:custGeom>
              <a:avLst/>
              <a:gdLst/>
              <a:ahLst/>
              <a:cxnLst/>
              <a:rect r="r" b="b" t="t" l="l"/>
              <a:pathLst>
                <a:path h="1275842" w="14033500">
                  <a:moveTo>
                    <a:pt x="0" y="0"/>
                  </a:moveTo>
                  <a:lnTo>
                    <a:pt x="14033500" y="0"/>
                  </a:lnTo>
                  <a:lnTo>
                    <a:pt x="14033500" y="1275842"/>
                  </a:lnTo>
                  <a:lnTo>
                    <a:pt x="0" y="1275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-382829"/>
            <a:ext cx="17720129" cy="10908001"/>
          </a:xfrm>
          <a:custGeom>
            <a:avLst/>
            <a:gdLst/>
            <a:ahLst/>
            <a:cxnLst/>
            <a:rect r="r" b="b" t="t" l="l"/>
            <a:pathLst>
              <a:path h="10908001" w="17720129">
                <a:moveTo>
                  <a:pt x="0" y="0"/>
                </a:moveTo>
                <a:lnTo>
                  <a:pt x="17720129" y="0"/>
                </a:lnTo>
                <a:lnTo>
                  <a:pt x="17720129" y="10908002"/>
                </a:lnTo>
                <a:lnTo>
                  <a:pt x="0" y="109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48010" y="1028700"/>
            <a:ext cx="6530340" cy="38100"/>
            <a:chOff x="0" y="0"/>
            <a:chExt cx="870712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400" y="0"/>
              <a:ext cx="8656320" cy="50800"/>
            </a:xfrm>
            <a:custGeom>
              <a:avLst/>
              <a:gdLst/>
              <a:ahLst/>
              <a:cxnLst/>
              <a:rect r="r" b="b" t="t" l="l"/>
              <a:pathLst>
                <a:path h="5080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28088" y="2476424"/>
            <a:ext cx="15321353" cy="874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Audio is useful, but not universally.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Most useful for: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pronunciation-based puns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heterographic puns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sound-based ambiguity</a:t>
            </a:r>
          </a:p>
          <a:p>
            <a:pPr algn="l" marL="800101" indent="-266700" lvl="2">
              <a:lnSpc>
                <a:spcPts val="4900"/>
              </a:lnSpc>
              <a:buFont typeface="Arial"/>
              <a:buChar char="⚬"/>
            </a:pPr>
            <a:r>
              <a:rPr lang="en-US" b="true" sz="3500">
                <a:solidFill>
                  <a:srgbClr val="002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Less useful for: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002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general humor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002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context-based jokes</a:t>
            </a:r>
          </a:p>
          <a:p>
            <a:pPr algn="l" marL="1429809" indent="-357452" lvl="3">
              <a:lnSpc>
                <a:spcPts val="4900"/>
              </a:lnSpc>
              <a:buFont typeface="Arial"/>
              <a:buChar char="￭"/>
            </a:pPr>
            <a:r>
              <a:rPr lang="en-US" b="true" sz="3500">
                <a:solidFill>
                  <a:srgbClr val="002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semantic ambiguity</a:t>
            </a:r>
          </a:p>
          <a:p>
            <a:pPr algn="l" marL="1429809" indent="-357452" lvl="3">
              <a:lnSpc>
                <a:spcPts val="4900"/>
              </a:lnSpc>
            </a:pPr>
          </a:p>
          <a:p>
            <a:pPr algn="ctr">
              <a:lnSpc>
                <a:spcPts val="5319"/>
              </a:lnSpc>
            </a:pPr>
            <a:r>
              <a:rPr lang="en-US" b="true" sz="3799" u="sng">
                <a:solidFill>
                  <a:srgbClr val="002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Audio works best as a complementary signal together with </a:t>
            </a:r>
            <a:r>
              <a:rPr lang="en-US" b="true" sz="3799">
                <a:solidFill>
                  <a:srgbClr val="002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</a:t>
            </a:r>
            <a:r>
              <a:rPr lang="en-US" b="true" sz="3799" u="sng">
                <a:solidFill>
                  <a:srgbClr val="002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  <a:p>
            <a:pPr algn="l" marL="1429809" indent="-357452" lvl="3">
              <a:lnSpc>
                <a:spcPts val="4900"/>
              </a:lnSpc>
            </a:pPr>
          </a:p>
          <a:p>
            <a:pPr algn="l" marL="1429809" indent="-357452" lvl="3">
              <a:lnSpc>
                <a:spcPts val="49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152650" y="762000"/>
            <a:ext cx="5848350" cy="125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6"/>
              </a:lnSpc>
            </a:pPr>
            <a:r>
              <a:rPr lang="en-US" sz="68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1420720"/>
            <a:ext cx="18288000" cy="1662541"/>
            <a:chOff x="0" y="0"/>
            <a:chExt cx="24384000" cy="2216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16785"/>
            </a:xfrm>
            <a:custGeom>
              <a:avLst/>
              <a:gdLst/>
              <a:ahLst/>
              <a:cxnLst/>
              <a:rect r="r" b="b" t="t" l="l"/>
              <a:pathLst>
                <a:path h="221678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16785"/>
                  </a:lnTo>
                  <a:lnTo>
                    <a:pt x="0" y="221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417" y="7801889"/>
            <a:ext cx="18288000" cy="1662541"/>
            <a:chOff x="0" y="0"/>
            <a:chExt cx="24384000" cy="22167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16785"/>
            </a:xfrm>
            <a:custGeom>
              <a:avLst/>
              <a:gdLst/>
              <a:ahLst/>
              <a:cxnLst/>
              <a:rect r="r" b="b" t="t" l="l"/>
              <a:pathLst>
                <a:path h="221678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16785"/>
                  </a:lnTo>
                  <a:lnTo>
                    <a:pt x="0" y="221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3" t="0" r="-443" b="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701726" y="2416369"/>
            <a:ext cx="19691461" cy="5829176"/>
          </a:xfrm>
          <a:custGeom>
            <a:avLst/>
            <a:gdLst/>
            <a:ahLst/>
            <a:cxnLst/>
            <a:rect r="r" b="b" t="t" l="l"/>
            <a:pathLst>
              <a:path h="5829176" w="19691461">
                <a:moveTo>
                  <a:pt x="0" y="0"/>
                </a:moveTo>
                <a:lnTo>
                  <a:pt x="19691461" y="0"/>
                </a:lnTo>
                <a:lnTo>
                  <a:pt x="19691461" y="5829176"/>
                </a:lnTo>
                <a:lnTo>
                  <a:pt x="0" y="58291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10675" y="3863130"/>
            <a:ext cx="15266641" cy="211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22"/>
              </a:lnSpc>
            </a:pPr>
            <a:r>
              <a:rPr lang="en-US" sz="11087" b="true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DAHHzh8NeUU</dc:identifier>
  <dcterms:modified xsi:type="dcterms:W3CDTF">2011-08-01T06:04:30Z</dcterms:modified>
  <cp:revision>1</cp:revision>
  <dc:title>AudioAugmentedPrompting(1).pptx</dc:title>
</cp:coreProperties>
</file>